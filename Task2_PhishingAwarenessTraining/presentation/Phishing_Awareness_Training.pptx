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731520"/>
            <a:ext cx="1828800" cy="1828800"/>
          </a:xfrm>
          <a:prstGeom prst="ellipse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1920240"/>
            <a:ext cx="1234440" cy="1234440"/>
          </a:xfrm>
          <a:prstGeom prst="ellipse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0" y="2926080"/>
            <a:ext cx="822960" cy="822960"/>
          </a:xfrm>
          <a:prstGeom prst="ellipse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3840480"/>
            <a:ext cx="1554480" cy="1554480"/>
          </a:xfrm>
          <a:prstGeom prst="ellipse">
            <a:avLst/>
          </a:prstGeom>
          <a:solidFill>
            <a:srgbClr val="2346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731520"/>
            <a:ext cx="7680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2C4DC"/>
                </a:solidFill>
                <a:latin typeface="Aptos"/>
              </a:defRPr>
            </a:pPr>
            <a:r>
              <a:t>CODEALPHA  |  CYBER SECURITY INTERNSHIP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508760"/>
            <a:ext cx="7772400" cy="1645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PHISHING</a:t>
            </a:r>
          </a:p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AWARENESS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657600"/>
            <a:ext cx="7132320" cy="8229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DBE6F4"/>
                </a:solidFill>
                <a:latin typeface="Aptos"/>
              </a:defRPr>
            </a:pPr>
            <a:r>
              <a:t>Recognize suspicious messages. Verify before you trust. Report what looks wrong.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715000"/>
            <a:ext cx="6858000" cy="4572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FFFFFF"/>
                </a:solidFill>
                <a:latin typeface="Aptos"/>
              </a:defRPr>
            </a:pPr>
            <a:r>
              <a:t>Prepared by: Ghizlane Boufelja  |  Task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24160" y="6172200"/>
            <a:ext cx="1097280" cy="22860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100" b="0">
                <a:solidFill>
                  <a:srgbClr val="BECDDF"/>
                </a:solidFill>
                <a:latin typeface="Aptos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1. What is phishing?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A social-engineering attack that tricks people into unsafe actions.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82296" cy="228600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199339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The attacker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468880"/>
            <a:ext cx="3108960" cy="15544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Pretends to be a trusted person or organization.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2286000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The message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68880"/>
            <a:ext cx="3108960" cy="15544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Uses email, SMS, chat, calls, or fake websites.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82880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828800"/>
            <a:ext cx="82296" cy="228600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199339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The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468880"/>
            <a:ext cx="3108960" cy="15544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Steal credentials or money, or make someone open a harmful file.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709160"/>
            <a:ext cx="10789920" cy="8229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01E36"/>
                </a:solidFill>
                <a:latin typeface="Aptos"/>
              </a:defRPr>
            </a:pPr>
            <a:r>
              <a:t>Key idea: phishing targets human trust and attention—not only technology.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2. Common warning signs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One clue may be harmless; several clues together deserve caution.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5486400" cy="43891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Unexpected request for a password, payment, or personal data</a:t>
            </a:r>
          </a:p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Pressure to act immediately or threat of account closure</a:t>
            </a:r>
          </a:p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Sender address does not match the claimed organization</a:t>
            </a:r>
          </a:p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Unexpected attachment or link</a:t>
            </a:r>
          </a:p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Unusual greeting, spelling, branding, or details</a:t>
            </a:r>
          </a:p>
          <a:p>
            <a:pPr>
              <a:spcAft>
                <a:spcPts val="800"/>
              </a:spcAft>
              <a:defRPr sz="1900" b="0">
                <a:solidFill>
                  <a:srgbClr val="253142"/>
                </a:solidFill>
                <a:latin typeface="Aptos"/>
              </a:defRPr>
            </a:pPr>
            <a:r>
              <a:t>•  Request to bypass normal procedures or keep things secret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20840" y="1828800"/>
            <a:ext cx="4663440" cy="329184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720840" y="1828800"/>
            <a:ext cx="82296" cy="3291840"/>
          </a:xfrm>
          <a:prstGeom prst="rect">
            <a:avLst/>
          </a:prstGeom>
          <a:solidFill>
            <a:srgbClr val="E9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22007" y="1993392"/>
            <a:ext cx="4297679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Remember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22007" y="2468880"/>
            <a:ext cx="4297679" cy="25603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Do not judge a message by its logo or display name alone. Attackers can copy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3. Example: a suspicious email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Training example — fictional message; do not click unexpected links.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91640"/>
            <a:ext cx="667512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612648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01E36"/>
                </a:solidFill>
                <a:latin typeface="Aptos"/>
              </a:defRPr>
            </a:pPr>
            <a:r>
              <a:t>From: Account Support &lt;security-alert@example.invalid&gt;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04288"/>
            <a:ext cx="6126480" cy="32004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CF3F47"/>
                </a:solidFill>
                <a:latin typeface="Aptos"/>
              </a:defRPr>
            </a:pPr>
            <a:r>
              <a:t>Subject: URGENT — your account will be closed today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88920"/>
            <a:ext cx="5989320" cy="20116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Dear customer,</a:t>
            </a: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We detected a problem. Confirm your password immediately using the link below or your account will be blocked.</a:t>
            </a: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[Verify account now]</a:t>
            </a: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Thank you, Support Team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182880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772400" y="1828800"/>
            <a:ext cx="82296" cy="105156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73568" y="1993392"/>
            <a:ext cx="329184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Red flag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73568" y="2468880"/>
            <a:ext cx="3291840" cy="320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142"/>
                </a:solidFill>
                <a:latin typeface="Aptos"/>
              </a:defRPr>
            </a:pPr>
            <a:r>
              <a:t>Artificial urgency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0" y="3063240"/>
            <a:ext cx="3657600" cy="1051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72400" y="3063240"/>
            <a:ext cx="82296" cy="1051560"/>
          </a:xfrm>
          <a:prstGeom prst="rect">
            <a:avLst/>
          </a:prstGeom>
          <a:solidFill>
            <a:srgbClr val="E9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73568" y="3227832"/>
            <a:ext cx="329184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Red flag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3568" y="3703320"/>
            <a:ext cx="3291840" cy="320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142"/>
                </a:solidFill>
                <a:latin typeface="Aptos"/>
              </a:defRPr>
            </a:pPr>
            <a:r>
              <a:t>Generic greeting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0" y="4297680"/>
            <a:ext cx="36576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772400" y="4297680"/>
            <a:ext cx="82296" cy="128016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73568" y="4462272"/>
            <a:ext cx="329184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Red flag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73568" y="4937760"/>
            <a:ext cx="3291840" cy="5486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253142"/>
                </a:solidFill>
                <a:latin typeface="Aptos"/>
              </a:defRPr>
            </a:pPr>
            <a:r>
              <a:t>Password request through a link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6172200"/>
            <a:ext cx="10515600" cy="2743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Never enter credentials through a link in an unexpected message. Verify through a known official channel.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4. How to check a link or website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Look carefully before entering information.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828800"/>
            <a:ext cx="82296" cy="246888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93392"/>
            <a:ext cx="315468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Check the domain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68880"/>
            <a:ext cx="3154680" cy="17373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Read the full domain. Look for misspellings or extra words.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8288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828800"/>
            <a:ext cx="82296" cy="2468880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93392"/>
            <a:ext cx="315468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Avoid message links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68880"/>
            <a:ext cx="3154680" cy="17373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Open the official app or type a known address yourself.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828800"/>
            <a:ext cx="3520440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828800"/>
            <a:ext cx="82296" cy="246888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993392"/>
            <a:ext cx="315468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HTTPS is not enough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68880"/>
            <a:ext cx="3154680" cy="17373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A padlock means the connection is encrypted; it does not prove the site is legitimate.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800600"/>
            <a:ext cx="10515600" cy="8229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ctr">
              <a:spcAft>
                <a:spcPts val="800"/>
              </a:spcAft>
              <a:defRPr sz="2000" b="1">
                <a:solidFill>
                  <a:srgbClr val="101E36"/>
                </a:solidFill>
                <a:latin typeface="Aptos"/>
              </a:defRPr>
            </a:pPr>
            <a:r>
              <a:t>A look-alike domain can imitate a familiar brand. When in doubt, stop and verify independently.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5. Social-engineering tactics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Attackers manipulate emotions to make people act without checking.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31520" y="1783080"/>
            <a:ext cx="82296" cy="150876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94767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Urgency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3108960" cy="7772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“Act in the next 10 minutes.”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7830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43400" y="1783080"/>
            <a:ext cx="82296" cy="150876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44568" y="194767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2423160"/>
            <a:ext cx="3108960" cy="7772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“I am your manager—send this now.”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55279" y="178308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955279" y="1783080"/>
            <a:ext cx="82296" cy="1508760"/>
          </a:xfrm>
          <a:prstGeom prst="rect">
            <a:avLst/>
          </a:prstGeom>
          <a:solidFill>
            <a:srgbClr val="E9A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56448" y="194767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Fear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23160"/>
            <a:ext cx="3108960" cy="7772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“Your account will be suspended.”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514600" y="3703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3703320"/>
            <a:ext cx="82296" cy="1508760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15768" y="3867911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Curiosity / reward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15768" y="4343400"/>
            <a:ext cx="3108960" cy="7772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“You won a prize—open this file.”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3703320"/>
            <a:ext cx="347472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17920" y="3703320"/>
            <a:ext cx="82296" cy="1508760"/>
          </a:xfrm>
          <a:prstGeom prst="rect">
            <a:avLst/>
          </a:prstGeom>
          <a:solidFill>
            <a:srgbClr val="25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19088" y="3867911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Trust / familiarity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9088" y="4343400"/>
            <a:ext cx="3108960" cy="7772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253142"/>
                </a:solidFill>
                <a:latin typeface="Aptos"/>
              </a:defRPr>
            </a:pPr>
            <a:r>
              <a:t>A message that appears to come from a colleague.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6. Best practices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Pause, verify, protect, and report.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6583680" cy="44805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Verify unusual requests through a separate trusted channel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Never share passwords or one-time verification codes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Use multi-factor authentication (MFA) and unique passwords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Keep your OS, browser, and security tools updated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Do not open unexpected attachments without verification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Report suspicious messages to your IT/security team or provider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818120" y="2057400"/>
            <a:ext cx="347472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818120" y="2057400"/>
            <a:ext cx="82296" cy="242316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19288" y="2221992"/>
            <a:ext cx="31089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If you clicked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9288" y="2697480"/>
            <a:ext cx="3108960" cy="16916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253142"/>
                </a:solidFill>
                <a:latin typeface="Aptos"/>
              </a:defRPr>
            </a:pPr>
            <a:r>
              <a:t>Report promptly, change exposed passwords from a trusted device, and contact your IT/security team.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7. What should you do?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A simple response checklist.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148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48840"/>
            <a:ext cx="82296" cy="2194560"/>
          </a:xfrm>
          <a:prstGeom prst="rect">
            <a:avLst/>
          </a:prstGeom>
          <a:solidFill>
            <a:srgbClr val="CF3F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2313432"/>
            <a:ext cx="21945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788920"/>
            <a:ext cx="2194560" cy="1463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142"/>
                </a:solidFill>
                <a:latin typeface="Aptos"/>
              </a:defRPr>
            </a:pPr>
            <a:r>
              <a:t>Do not click or reply.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0" y="2148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148840"/>
            <a:ext cx="82296" cy="2194560"/>
          </a:xfrm>
          <a:prstGeom prst="rect">
            <a:avLst/>
          </a:prstGeom>
          <a:solidFill>
            <a:srgbClr val="2A6F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58768" y="2313432"/>
            <a:ext cx="21945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58768" y="2788920"/>
            <a:ext cx="2194560" cy="1463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142"/>
                </a:solidFill>
                <a:latin typeface="Aptos"/>
              </a:defRPr>
            </a:pPr>
            <a:r>
              <a:t>Verify independently.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59" y="2148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37959" y="2148840"/>
            <a:ext cx="82296" cy="2194560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39127" y="2313432"/>
            <a:ext cx="21945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PROTECT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39127" y="2788920"/>
            <a:ext cx="2194560" cy="1463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142"/>
                </a:solidFill>
                <a:latin typeface="Aptos"/>
              </a:defRPr>
            </a:pPr>
            <a:r>
              <a:t>Do not provide credentials or codes.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19" y="2148840"/>
            <a:ext cx="256032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418319" y="2148840"/>
            <a:ext cx="82296" cy="2194560"/>
          </a:xfrm>
          <a:prstGeom prst="rect">
            <a:avLst/>
          </a:prstGeom>
          <a:solidFill>
            <a:srgbClr val="2591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19488" y="2313432"/>
            <a:ext cx="2194560" cy="3657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1">
                <a:solidFill>
                  <a:srgbClr val="101E36"/>
                </a:solidFill>
                <a:latin typeface="Aptos"/>
              </a:defRPr>
            </a:pPr>
            <a:r>
              <a:t>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19488" y="2788920"/>
            <a:ext cx="2194560" cy="1463039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253142"/>
                </a:solidFill>
                <a:latin typeface="Aptos"/>
              </a:defRPr>
            </a:pPr>
            <a:r>
              <a:t>Use the proper reporting process.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10424160" cy="54864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ctr">
              <a:spcAft>
                <a:spcPts val="800"/>
              </a:spcAft>
              <a:defRPr sz="2200" b="1">
                <a:solidFill>
                  <a:srgbClr val="101E36"/>
                </a:solidFill>
                <a:latin typeface="Aptos"/>
              </a:defRPr>
            </a:pPr>
            <a:r>
              <a:t>When a message creates pressure, slowing down is a security skill.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8. Knowledge check — quiz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Choose the safest answer for each scenario.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10607040" cy="44805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1. An email asks you to confirm your password immediately. What should you do?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2. A message appears to come from your manager and requests an urgent payment. What is safest?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3. A website shows a padlock. Does that prove it is legitimate?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4. You clicked a suspicious link and entered your password. What next?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5. What is a good way to verify an unusual request?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5989320"/>
            <a:ext cx="10515600" cy="32004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5E6C7D"/>
                </a:solidFill>
                <a:latin typeface="Aptos"/>
              </a:defRPr>
            </a:pPr>
            <a:r>
              <a:t>Discuss answers before checking resources/quiz-answer-key.md.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029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700" b="1">
                <a:solidFill>
                  <a:srgbClr val="101E36"/>
                </a:solidFill>
                <a:latin typeface="Aptos"/>
              </a:defRPr>
            </a:pPr>
            <a:r>
              <a:t>Quiz answers and explanations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21792" y="932688"/>
            <a:ext cx="914400" cy="64008"/>
          </a:xfrm>
          <a:prstGeom prst="rect">
            <a:avLst/>
          </a:prstGeom>
          <a:solidFill>
            <a:srgbClr val="42C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21792" y="1069848"/>
            <a:ext cx="10698480" cy="384048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300" b="0">
                <a:solidFill>
                  <a:srgbClr val="5E6C7D"/>
                </a:solidFill>
                <a:latin typeface="Aptos"/>
              </a:defRPr>
            </a:pPr>
            <a:r>
              <a:t>Use this slide after participants have answered.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6446520"/>
            <a:ext cx="365760" cy="1828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 algn="r">
              <a:spcAft>
                <a:spcPts val="800"/>
              </a:spcAft>
              <a:defRPr sz="1000" b="0">
                <a:solidFill>
                  <a:srgbClr val="5E6C7D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10607040" cy="438912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1. Do not use the link; visit the official service independently.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2. Verify with the manager through a separate known channel.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3. No. HTTPS encrypts the connection but does not prove legitimacy.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4. Report promptly and change the exposed password from a trusted device.</a:t>
            </a:r>
          </a:p>
          <a:p>
            <a:pPr>
              <a:spcAft>
                <a:spcPts val="800"/>
              </a:spcAft>
              <a:defRPr sz="1800" b="0">
                <a:solidFill>
                  <a:srgbClr val="253142"/>
                </a:solidFill>
                <a:latin typeface="Aptos"/>
              </a:defRPr>
            </a:pPr>
            <a:r>
              <a:t>•  5. Contact the sender through a known phone number or official channel.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10698480" cy="6400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42C4DC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463040"/>
            <a:ext cx="10607040" cy="128016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FFFFFF"/>
                </a:solidFill>
                <a:latin typeface="Aptos"/>
              </a:defRPr>
            </a:pPr>
            <a:r>
              <a:t>Pause. Verify. Protect. Report.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9966960" cy="20116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 Check the sender and the full website address.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 Treat urgent requests and credential prompts with caution.</a:t>
            </a:r>
          </a:p>
          <a:p>
            <a:pPr>
              <a:spcAft>
                <a:spcPts val="800"/>
              </a:spcAft>
              <a:defRPr sz="2000" b="0">
                <a:solidFill>
                  <a:srgbClr val="FFFFFF"/>
                </a:solidFill>
                <a:latin typeface="Aptos"/>
              </a:defRPr>
            </a:pPr>
            <a:r>
              <a:t>•  Report suspected phishing quickly.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241280" cy="411480"/>
          </a:xfrm>
          <a:prstGeom prst="rect">
            <a:avLst/>
          </a:prstGeom>
          <a:noFill/>
        </p:spPr>
        <p:txBody>
          <a:bodyPr wrap="square" lIns="73152" rIns="73152" tIns="54864">
            <a:spAutoFit/>
          </a:bodyPr>
          <a:lstStyle/>
          <a:p>
            <a:pPr>
              <a:spcAft>
                <a:spcPts val="800"/>
              </a:spcAft>
              <a:defRPr sz="1200" b="0">
                <a:solidFill>
                  <a:srgbClr val="BECDDF"/>
                </a:solidFill>
                <a:latin typeface="Aptos"/>
              </a:defRPr>
            </a:pPr>
            <a:r>
              <a:t>CodeAlpha Cyber Security Internship  |  Task 2: Phishing Awareness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